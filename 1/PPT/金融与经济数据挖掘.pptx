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Kanit" panose="02010600030101010101" charset="-34"/>
      <p:regular r:id="rId16"/>
      <p:bold r:id="rId17"/>
      <p:italic r:id="rId18"/>
      <p:boldItalic r:id="rId19"/>
    </p:embeddedFont>
    <p:embeddedFont>
      <p:font typeface="Martel Sans" panose="02010600030101010101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63" y="47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7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8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" name="Google Shape;41;p9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2"/>
          <p:cNvSpPr/>
          <p:nvPr/>
        </p:nvSpPr>
        <p:spPr>
          <a:xfrm>
            <a:off x="523577" y="1794197"/>
            <a:ext cx="3520306" cy="4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Kanit"/>
              <a:buNone/>
            </a:pPr>
            <a:r>
              <a:rPr lang="en-US" sz="2750" b="0" i="0" u="none" strike="noStrike" cap="non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金融与经济数据挖掘</a:t>
            </a:r>
            <a:endParaRPr sz="2750" b="0" i="0" u="none" strike="noStrike" cap="none"/>
          </a:p>
        </p:txBody>
      </p:sp>
      <p:sp>
        <p:nvSpPr>
          <p:cNvPr id="54" name="Google Shape;54;p12"/>
          <p:cNvSpPr/>
          <p:nvPr/>
        </p:nvSpPr>
        <p:spPr>
          <a:xfrm>
            <a:off x="523577" y="2294037"/>
            <a:ext cx="3750469" cy="35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Kanit"/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作业1：机器学习技术分析实战</a:t>
            </a:r>
            <a:endParaRPr sz="2200" b="0" i="0" u="none" strike="noStrike" cap="none"/>
          </a:p>
        </p:txBody>
      </p:sp>
      <p:sp>
        <p:nvSpPr>
          <p:cNvPr id="55" name="Google Shape;55;p12"/>
          <p:cNvSpPr/>
          <p:nvPr/>
        </p:nvSpPr>
        <p:spPr>
          <a:xfrm>
            <a:off x="523577" y="2870448"/>
            <a:ext cx="4667845" cy="4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Martel Sans"/>
              <a:buNone/>
            </a:pPr>
            <a:r>
              <a:rPr lang="en-US" sz="1150" b="0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以白酒行业上市公司为研究标的，运用 Python 与机器学习模型，完成量化回测与投资策略验证。</a:t>
            </a:r>
            <a:endParaRPr sz="1150" b="0" i="0" u="none" strike="noStrike" cap="non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/>
          <p:nvPr/>
        </p:nvSpPr>
        <p:spPr>
          <a:xfrm>
            <a:off x="523577" y="444996"/>
            <a:ext cx="3520306" cy="4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Kanit"/>
              <a:buNone/>
            </a:pPr>
            <a:r>
              <a:rPr lang="en-US" sz="2750" b="0" i="0" u="none" strike="noStrike" cap="non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研究目标与数据说明</a:t>
            </a:r>
            <a:endParaRPr sz="2750" b="0" i="0" u="none" strike="noStrike" cap="none"/>
          </a:p>
        </p:txBody>
      </p:sp>
      <p:pic>
        <p:nvPicPr>
          <p:cNvPr id="62" name="Google Shape;62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577" y="1363340"/>
            <a:ext cx="5135166" cy="30810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6028432" y="1258937"/>
            <a:ext cx="1760116" cy="2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Kanit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研究标的</a:t>
            </a:r>
            <a:endParaRPr sz="1350" b="0" i="0" u="none" strike="noStrike" cap="none"/>
          </a:p>
        </p:txBody>
      </p:sp>
      <p:sp>
        <p:nvSpPr>
          <p:cNvPr id="64" name="Google Shape;64;p13"/>
          <p:cNvSpPr/>
          <p:nvPr/>
        </p:nvSpPr>
        <p:spPr>
          <a:xfrm>
            <a:off x="6028432" y="1628477"/>
            <a:ext cx="2596679" cy="95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Martel Sans"/>
              <a:buNone/>
            </a:pPr>
            <a:r>
              <a:rPr lang="en-US" sz="1150" b="0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任选白酒行业上市公司：贵州茅台（600519）、五粮液（000858）、泸州老窖（000568）、山西汾酒（600809）、洋河股份（600236）</a:t>
            </a:r>
            <a:endParaRPr sz="1150" b="0" i="0" u="none" strike="noStrike" cap="none"/>
          </a:p>
        </p:txBody>
      </p:sp>
      <p:sp>
        <p:nvSpPr>
          <p:cNvPr id="65" name="Google Shape;65;p13"/>
          <p:cNvSpPr/>
          <p:nvPr/>
        </p:nvSpPr>
        <p:spPr>
          <a:xfrm>
            <a:off x="6028432" y="2735610"/>
            <a:ext cx="1760116" cy="2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Kanit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数据要求</a:t>
            </a:r>
            <a:endParaRPr sz="1350" b="0" i="0" u="none" strike="noStrike" cap="none"/>
          </a:p>
        </p:txBody>
      </p:sp>
      <p:sp>
        <p:nvSpPr>
          <p:cNvPr id="66" name="Google Shape;66;p13"/>
          <p:cNvSpPr/>
          <p:nvPr/>
        </p:nvSpPr>
        <p:spPr>
          <a:xfrm>
            <a:off x="6028432" y="3105150"/>
            <a:ext cx="2596679" cy="154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Martel Sans"/>
              <a:buChar char="•"/>
            </a:pPr>
            <a:r>
              <a:rPr lang="en-US" sz="1150" b="0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数据源：baostock（免费无需权限）</a:t>
            </a:r>
            <a:endParaRPr sz="1150" b="0" i="0" u="none" strike="noStrike" cap="none"/>
          </a:p>
          <a:p>
            <a:pPr marL="342900" marR="0" lvl="0" indent="-34290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Martel Sans"/>
              <a:buChar char="•"/>
            </a:pPr>
            <a:r>
              <a:rPr lang="en-US" sz="1150" b="0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数据类型：日收盘价（前复权）、日成交量</a:t>
            </a:r>
            <a:endParaRPr sz="1150" b="0" i="0" u="none" strike="noStrike" cap="none"/>
          </a:p>
          <a:p>
            <a:pPr marL="342900" marR="0" lvl="0" indent="-34290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Martel Sans"/>
              <a:buChar char="•"/>
            </a:pPr>
            <a:r>
              <a:rPr lang="en-US" sz="1150" b="0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时间范围：2024-01-01 至 2025-12-31</a:t>
            </a:r>
            <a:endParaRPr sz="1150" b="0" i="0" u="none" strike="noStrike" cap="non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/>
          <p:nvPr/>
        </p:nvSpPr>
        <p:spPr>
          <a:xfrm>
            <a:off x="523577" y="467395"/>
            <a:ext cx="3871764" cy="4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Kanit"/>
              <a:buNone/>
            </a:pPr>
            <a:r>
              <a:rPr lang="en-US" sz="2750" b="0" i="0" u="none" strike="noStrike" cap="non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特征工程：滚动窗口构建</a:t>
            </a:r>
            <a:endParaRPr sz="2750" b="0" i="0" u="none" strike="noStrike" cap="none"/>
          </a:p>
        </p:txBody>
      </p:sp>
      <p:pic>
        <p:nvPicPr>
          <p:cNvPr id="73" name="Google Shape;73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94247" y="1206624"/>
            <a:ext cx="4755505" cy="2822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64850" y="1896478"/>
            <a:ext cx="404839" cy="40483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/>
          <p:nvPr/>
        </p:nvSpPr>
        <p:spPr>
          <a:xfrm>
            <a:off x="5504165" y="3381097"/>
            <a:ext cx="1182128" cy="21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350"/>
              <a:buFont typeface="Kanit"/>
              <a:buNone/>
            </a:pPr>
            <a:r>
              <a:rPr lang="en-US" sz="1350" b="0" i="0" u="none" strike="noStrike" cap="none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预测收益率</a:t>
            </a:r>
            <a:endParaRPr sz="1350" b="0" i="0" u="none" strike="noStrike" cap="none"/>
          </a:p>
        </p:txBody>
      </p:sp>
      <p:pic>
        <p:nvPicPr>
          <p:cNvPr id="76" name="Google Shape;76;p1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2762" y="1897237"/>
            <a:ext cx="404838" cy="40483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/>
          <p:nvPr/>
        </p:nvSpPr>
        <p:spPr>
          <a:xfrm>
            <a:off x="4014360" y="3381097"/>
            <a:ext cx="1182128" cy="21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350"/>
              <a:buFont typeface="Kanit"/>
              <a:buNone/>
            </a:pPr>
            <a:r>
              <a:rPr lang="en-US" sz="1350" b="0" i="0" u="none" strike="noStrike" cap="none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滚动构造</a:t>
            </a:r>
            <a:endParaRPr sz="1350" b="0" i="0" u="none" strike="noStrike" cap="none"/>
          </a:p>
        </p:txBody>
      </p:sp>
      <p:pic>
        <p:nvPicPr>
          <p:cNvPr id="78" name="Google Shape;78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2957" y="1897237"/>
            <a:ext cx="404838" cy="404838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/>
          <p:nvPr/>
        </p:nvSpPr>
        <p:spPr>
          <a:xfrm>
            <a:off x="2500264" y="3381097"/>
            <a:ext cx="1182128" cy="21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350"/>
              <a:buFont typeface="Kanit"/>
              <a:buNone/>
            </a:pPr>
            <a:r>
              <a:rPr lang="en-US" sz="1350" b="0" i="0" u="none" strike="noStrike" cap="none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计算收益率</a:t>
            </a:r>
            <a:endParaRPr sz="1350" b="0" i="0" u="none" strike="noStrike" cap="none"/>
          </a:p>
        </p:txBody>
      </p:sp>
      <p:sp>
        <p:nvSpPr>
          <p:cNvPr id="80" name="Google Shape;80;p14"/>
          <p:cNvSpPr/>
          <p:nvPr/>
        </p:nvSpPr>
        <p:spPr>
          <a:xfrm>
            <a:off x="523577" y="4197325"/>
            <a:ext cx="8096845" cy="4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Martel Sans"/>
              <a:buNone/>
            </a:pPr>
            <a:r>
              <a:rPr lang="en-US" sz="1150" b="0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价格收益率 = (当日收盘价 − 前一日收盘价) / 前一日收盘价；成交量收益率同理。共构造 20 个特征（10个价格变动 + 10个成交量变动）作为模型输入。</a:t>
            </a:r>
            <a:endParaRPr sz="1150" b="0" i="0" u="none" strike="noStrike" cap="non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/>
          <p:nvPr/>
        </p:nvSpPr>
        <p:spPr>
          <a:xfrm>
            <a:off x="523577" y="1136600"/>
            <a:ext cx="3871764" cy="4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Kanit"/>
              <a:buNone/>
            </a:pPr>
            <a:r>
              <a:rPr lang="en-US" sz="2750" b="0" i="0" u="none" strike="noStrike" cap="non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建模方案：三大模型对比</a:t>
            </a:r>
            <a:endParaRPr sz="2750" b="0" i="0" u="none" strike="noStrike" cap="none"/>
          </a:p>
        </p:txBody>
      </p:sp>
      <p:sp>
        <p:nvSpPr>
          <p:cNvPr id="87" name="Google Shape;87;p15"/>
          <p:cNvSpPr/>
          <p:nvPr/>
        </p:nvSpPr>
        <p:spPr>
          <a:xfrm>
            <a:off x="523577" y="1875830"/>
            <a:ext cx="2599209" cy="1087636"/>
          </a:xfrm>
          <a:prstGeom prst="roundRect">
            <a:avLst>
              <a:gd name="adj" fmla="val 2063"/>
            </a:avLst>
          </a:prstGeom>
          <a:solidFill>
            <a:srgbClr val="2F2B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673150" y="2025402"/>
            <a:ext cx="1760116" cy="2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350"/>
              <a:buFont typeface="Kanit"/>
              <a:buNone/>
            </a:pPr>
            <a:r>
              <a:rPr lang="en-US" sz="1350" b="0" i="0" u="none" strike="noStrike" cap="none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线性回归</a:t>
            </a:r>
            <a:endParaRPr sz="1350" b="0" i="0" u="none" strike="noStrike" cap="none"/>
          </a:p>
        </p:txBody>
      </p:sp>
      <p:sp>
        <p:nvSpPr>
          <p:cNvPr id="89" name="Google Shape;89;p15"/>
          <p:cNvSpPr/>
          <p:nvPr/>
        </p:nvSpPr>
        <p:spPr>
          <a:xfrm>
            <a:off x="673150" y="2335113"/>
            <a:ext cx="2300064" cy="4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Martel Sans"/>
              <a:buNone/>
            </a:pPr>
            <a:r>
              <a:rPr lang="en-US" sz="1150" b="0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基线模型，简单可解释，用于对比参考</a:t>
            </a:r>
            <a:endParaRPr sz="1150" b="0" i="0" u="none" strike="noStrike" cap="none"/>
          </a:p>
        </p:txBody>
      </p:sp>
      <p:sp>
        <p:nvSpPr>
          <p:cNvPr id="90" name="Google Shape;90;p15"/>
          <p:cNvSpPr/>
          <p:nvPr/>
        </p:nvSpPr>
        <p:spPr>
          <a:xfrm>
            <a:off x="3272358" y="1875830"/>
            <a:ext cx="2599209" cy="1087636"/>
          </a:xfrm>
          <a:prstGeom prst="roundRect">
            <a:avLst>
              <a:gd name="adj" fmla="val 2063"/>
            </a:avLst>
          </a:prstGeom>
          <a:solidFill>
            <a:srgbClr val="2F2B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3421931" y="2025402"/>
            <a:ext cx="1760116" cy="2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350"/>
              <a:buFont typeface="Kanit"/>
              <a:buNone/>
            </a:pPr>
            <a:r>
              <a:rPr lang="en-US" sz="1350" b="0" i="0" u="none" strike="noStrike" cap="none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随机森林回归</a:t>
            </a:r>
            <a:endParaRPr sz="1350" b="0" i="0" u="none" strike="noStrike" cap="none"/>
          </a:p>
        </p:txBody>
      </p:sp>
      <p:sp>
        <p:nvSpPr>
          <p:cNvPr id="92" name="Google Shape;92;p15"/>
          <p:cNvSpPr/>
          <p:nvPr/>
        </p:nvSpPr>
        <p:spPr>
          <a:xfrm>
            <a:off x="3421931" y="2335113"/>
            <a:ext cx="2300064" cy="2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Martel Sans"/>
              <a:buNone/>
            </a:pPr>
            <a:r>
              <a:rPr lang="en-US" sz="1150" b="0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集成学习基线，捕捉非线性关系</a:t>
            </a:r>
            <a:endParaRPr sz="1150" b="0" i="0" u="none" strike="noStrike" cap="none"/>
          </a:p>
        </p:txBody>
      </p:sp>
      <p:sp>
        <p:nvSpPr>
          <p:cNvPr id="93" name="Google Shape;93;p15"/>
          <p:cNvSpPr/>
          <p:nvPr/>
        </p:nvSpPr>
        <p:spPr>
          <a:xfrm>
            <a:off x="6021139" y="1875830"/>
            <a:ext cx="2599283" cy="1087636"/>
          </a:xfrm>
          <a:prstGeom prst="roundRect">
            <a:avLst>
              <a:gd name="adj" fmla="val 2063"/>
            </a:avLst>
          </a:prstGeom>
          <a:solidFill>
            <a:srgbClr val="2F2B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6170712" y="2025402"/>
            <a:ext cx="1760116" cy="2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350"/>
              <a:buFont typeface="Kanit"/>
              <a:buNone/>
            </a:pPr>
            <a:r>
              <a:rPr lang="en-US" sz="1350" b="0" i="0" u="none" strike="noStrike" cap="none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LightGBM 回归</a:t>
            </a:r>
            <a:endParaRPr sz="1350" b="0" i="0" u="none" strike="noStrike" cap="none"/>
          </a:p>
        </p:txBody>
      </p:sp>
      <p:sp>
        <p:nvSpPr>
          <p:cNvPr id="95" name="Google Shape;95;p15"/>
          <p:cNvSpPr/>
          <p:nvPr/>
        </p:nvSpPr>
        <p:spPr>
          <a:xfrm>
            <a:off x="6170712" y="2335113"/>
            <a:ext cx="2300139" cy="2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Martel Sans"/>
              <a:buNone/>
            </a:pPr>
            <a:r>
              <a:rPr lang="en-US" sz="1150" b="0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主力模型，梯度提升，高效精准</a:t>
            </a:r>
            <a:endParaRPr sz="1150" b="0" i="0" u="none" strike="noStrike" cap="none"/>
          </a:p>
        </p:txBody>
      </p:sp>
      <p:sp>
        <p:nvSpPr>
          <p:cNvPr id="96" name="Google Shape;96;p15"/>
          <p:cNvSpPr/>
          <p:nvPr/>
        </p:nvSpPr>
        <p:spPr>
          <a:xfrm>
            <a:off x="523577" y="3131716"/>
            <a:ext cx="8096845" cy="875109"/>
          </a:xfrm>
          <a:prstGeom prst="roundRect">
            <a:avLst>
              <a:gd name="adj" fmla="val 2564"/>
            </a:avLst>
          </a:prstGeom>
          <a:solidFill>
            <a:srgbClr val="0223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" name="Google Shape;97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150" y="3340150"/>
            <a:ext cx="187003" cy="14957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/>
          <p:nvPr/>
        </p:nvSpPr>
        <p:spPr>
          <a:xfrm>
            <a:off x="1009724" y="3318644"/>
            <a:ext cx="7461126" cy="4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artel Sans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Martel Sans"/>
                <a:ea typeface="Martel Sans"/>
                <a:cs typeface="Martel Sans"/>
                <a:sym typeface="Martel Sans"/>
              </a:rPr>
              <a:t>严格按时间顺序划分：2024年前80%训练，后20%测试评估；全量2024年数据训练最终模型，2025年数据用于量化回测。</a:t>
            </a:r>
            <a:endParaRPr sz="1150" b="0" i="0" u="none" strike="noStrike" cap="non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466353" y="367978"/>
            <a:ext cx="3548583" cy="39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4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50"/>
              <a:buFont typeface="Kanit"/>
              <a:buNone/>
            </a:pPr>
            <a:r>
              <a:rPr lang="en-US" sz="2450" b="0" i="0" u="none" strike="noStrike" cap="non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数据获取与清洗（任务1）</a:t>
            </a:r>
            <a:endParaRPr sz="2450" b="0" i="0" u="none" strike="noStrike" cap="none"/>
          </a:p>
        </p:txBody>
      </p:sp>
      <p:sp>
        <p:nvSpPr>
          <p:cNvPr id="105" name="Google Shape;105;p16"/>
          <p:cNvSpPr/>
          <p:nvPr/>
        </p:nvSpPr>
        <p:spPr>
          <a:xfrm>
            <a:off x="466353" y="1056456"/>
            <a:ext cx="1567607" cy="195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Kanit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核心代码步骤</a:t>
            </a:r>
            <a:endParaRPr sz="1200" b="0" i="0" u="none" strike="noStrike" cap="none"/>
          </a:p>
        </p:txBody>
      </p:sp>
      <p:sp>
        <p:nvSpPr>
          <p:cNvPr id="106" name="Google Shape;106;p16"/>
          <p:cNvSpPr/>
          <p:nvPr/>
        </p:nvSpPr>
        <p:spPr>
          <a:xfrm>
            <a:off x="466353" y="1385888"/>
            <a:ext cx="266477" cy="166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Kanit"/>
              <a:buNone/>
            </a:pPr>
            <a:r>
              <a:rPr lang="en-US" sz="1000" b="0" i="0" u="none" strike="noStrike" cap="none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01</a:t>
            </a:r>
            <a:endParaRPr sz="1000" b="0" i="0" u="none" strike="noStrike" cap="none"/>
          </a:p>
        </p:txBody>
      </p:sp>
      <p:pic>
        <p:nvPicPr>
          <p:cNvPr id="107" name="Google Shape;107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353" y="1598042"/>
            <a:ext cx="3943127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/>
          <p:nvPr/>
        </p:nvSpPr>
        <p:spPr>
          <a:xfrm>
            <a:off x="466353" y="1693218"/>
            <a:ext cx="1567607" cy="195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200"/>
              <a:buFont typeface="Kanit"/>
              <a:buNone/>
            </a:pPr>
            <a:r>
              <a:rPr lang="en-US" sz="1200" b="0" i="0" u="none" strike="noStrike" cap="none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登录 baostock</a:t>
            </a:r>
            <a:endParaRPr sz="1200" b="0" i="0" u="none" strike="noStrike" cap="none"/>
          </a:p>
        </p:txBody>
      </p:sp>
      <p:sp>
        <p:nvSpPr>
          <p:cNvPr id="109" name="Google Shape;109;p16"/>
          <p:cNvSpPr/>
          <p:nvPr/>
        </p:nvSpPr>
        <p:spPr>
          <a:xfrm>
            <a:off x="466353" y="2007766"/>
            <a:ext cx="3943127" cy="225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D9E1FF"/>
                </a:solidFill>
                <a:highlight>
                  <a:srgbClr val="1D1942"/>
                </a:highlight>
                <a:latin typeface="Consolas"/>
                <a:ea typeface="Consolas"/>
                <a:cs typeface="Consolas"/>
                <a:sym typeface="Consolas"/>
              </a:rPr>
              <a:t>bs.login()</a:t>
            </a:r>
            <a:endParaRPr sz="1000" b="0" i="0" u="none" strike="noStrike" cap="none"/>
          </a:p>
        </p:txBody>
      </p:sp>
      <p:sp>
        <p:nvSpPr>
          <p:cNvPr id="110" name="Google Shape;110;p16"/>
          <p:cNvSpPr/>
          <p:nvPr/>
        </p:nvSpPr>
        <p:spPr>
          <a:xfrm>
            <a:off x="466353" y="2451571"/>
            <a:ext cx="266477" cy="166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Kanit"/>
              <a:buNone/>
            </a:pPr>
            <a:r>
              <a:rPr lang="en-US" sz="1000" b="0" i="0" u="none" strike="noStrike" cap="none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02</a:t>
            </a:r>
            <a:endParaRPr sz="1000" b="0" i="0" u="none" strike="noStrike" cap="none"/>
          </a:p>
        </p:txBody>
      </p:sp>
      <p:pic>
        <p:nvPicPr>
          <p:cNvPr id="111" name="Google Shape;111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353" y="2650406"/>
            <a:ext cx="3943127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/>
          <p:nvPr/>
        </p:nvSpPr>
        <p:spPr>
          <a:xfrm>
            <a:off x="466353" y="2758901"/>
            <a:ext cx="1567607" cy="195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200"/>
              <a:buFont typeface="Kanit"/>
              <a:buNone/>
            </a:pPr>
            <a:r>
              <a:rPr lang="en-US" sz="1200" b="0" i="0" u="none" strike="noStrike" cap="none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获取日K数据</a:t>
            </a:r>
            <a:endParaRPr sz="1200" b="0" i="0" u="none" strike="noStrike" cap="none"/>
          </a:p>
        </p:txBody>
      </p:sp>
      <p:sp>
        <p:nvSpPr>
          <p:cNvPr id="113" name="Google Shape;113;p16"/>
          <p:cNvSpPr/>
          <p:nvPr/>
        </p:nvSpPr>
        <p:spPr>
          <a:xfrm>
            <a:off x="466353" y="3073450"/>
            <a:ext cx="3943127" cy="42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D9E1FF"/>
                </a:solidFill>
                <a:highlight>
                  <a:srgbClr val="1D1942"/>
                </a:highlight>
                <a:latin typeface="Consolas"/>
                <a:ea typeface="Consolas"/>
                <a:cs typeface="Consolas"/>
                <a:sym typeface="Consolas"/>
              </a:rPr>
              <a:t>query_history_k_data_plus</a:t>
            </a:r>
            <a:r>
              <a:rPr lang="en-US" sz="1000" b="0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，字段：date, close, volume，前复权 adjustflag="3"</a:t>
            </a:r>
            <a:endParaRPr sz="1000" b="0" i="0" u="none" strike="noStrike" cap="none"/>
          </a:p>
        </p:txBody>
      </p:sp>
      <p:sp>
        <p:nvSpPr>
          <p:cNvPr id="114" name="Google Shape;114;p16"/>
          <p:cNvSpPr/>
          <p:nvPr/>
        </p:nvSpPr>
        <p:spPr>
          <a:xfrm>
            <a:off x="466353" y="3718768"/>
            <a:ext cx="266477" cy="166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Kanit"/>
              <a:buNone/>
            </a:pPr>
            <a:r>
              <a:rPr lang="en-US" sz="1000" b="0" i="0" u="none" strike="noStrike" cap="none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03</a:t>
            </a:r>
            <a:endParaRPr sz="1000" b="0" i="0" u="none" strike="noStrike" cap="none"/>
          </a:p>
        </p:txBody>
      </p:sp>
      <p:pic>
        <p:nvPicPr>
          <p:cNvPr id="115" name="Google Shape;115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353" y="3904283"/>
            <a:ext cx="3943127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/>
          <p:nvPr/>
        </p:nvSpPr>
        <p:spPr>
          <a:xfrm>
            <a:off x="466353" y="4026098"/>
            <a:ext cx="1567607" cy="195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200"/>
              <a:buFont typeface="Kanit"/>
              <a:buNone/>
            </a:pPr>
            <a:r>
              <a:rPr lang="en-US" sz="1200" b="0" i="0" u="none" strike="noStrike" cap="none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数据清洗</a:t>
            </a:r>
            <a:endParaRPr sz="1200" b="0" i="0" u="none" strike="noStrike" cap="none"/>
          </a:p>
        </p:txBody>
      </p:sp>
      <p:sp>
        <p:nvSpPr>
          <p:cNvPr id="117" name="Google Shape;117;p16"/>
          <p:cNvSpPr/>
          <p:nvPr/>
        </p:nvSpPr>
        <p:spPr>
          <a:xfrm>
            <a:off x="466353" y="4340647"/>
            <a:ext cx="3943127" cy="20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Martel Sans"/>
              <a:buNone/>
            </a:pPr>
            <a:r>
              <a:rPr lang="en-US" sz="1000" b="0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转换数值类型，设置日期索引，删除缺失值</a:t>
            </a:r>
            <a:endParaRPr sz="1000" b="0" i="0" u="none" strike="noStrike" cap="none"/>
          </a:p>
        </p:txBody>
      </p:sp>
      <p:sp>
        <p:nvSpPr>
          <p:cNvPr id="118" name="Google Shape;118;p16"/>
          <p:cNvSpPr/>
          <p:nvPr/>
        </p:nvSpPr>
        <p:spPr>
          <a:xfrm>
            <a:off x="4739283" y="1111300"/>
            <a:ext cx="3943127" cy="2483048"/>
          </a:xfrm>
          <a:prstGeom prst="roundRect">
            <a:avLst>
              <a:gd name="adj" fmla="val 805"/>
            </a:avLst>
          </a:prstGeom>
          <a:solidFill>
            <a:srgbClr val="1D19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4732660" y="1111300"/>
            <a:ext cx="3956372" cy="2483048"/>
          </a:xfrm>
          <a:prstGeom prst="roundRect">
            <a:avLst>
              <a:gd name="adj" fmla="val 805"/>
            </a:avLst>
          </a:prstGeom>
          <a:solidFill>
            <a:srgbClr val="1D19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4899199" y="1204540"/>
            <a:ext cx="3623295" cy="221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rs = bs.query_history_k_data_plus(</a:t>
            </a:r>
            <a:endParaRPr sz="1000" b="0" i="0" u="none" strike="noStrike" cap="none"/>
          </a:p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 stock_code,</a:t>
            </a:r>
            <a:endParaRPr sz="1000" b="0" i="0" u="none" strike="noStrike" cap="none"/>
          </a:p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 "date,close,volume",</a:t>
            </a:r>
            <a:endParaRPr sz="1000" b="0" i="0" u="none" strike="noStrike" cap="none"/>
          </a:p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 start_date=start_date,</a:t>
            </a:r>
            <a:endParaRPr sz="1000" b="0" i="0" u="none" strike="noStrike" cap="none"/>
          </a:p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 end_date=end_date,</a:t>
            </a:r>
            <a:endParaRPr sz="1000" b="0" i="0" u="none" strike="noStrike" cap="none"/>
          </a:p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 frequency="d",</a:t>
            </a:r>
            <a:endParaRPr sz="1000" b="0" i="0" u="none" strike="noStrike" cap="none"/>
          </a:p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 adjustflag="3"</a:t>
            </a:r>
            <a:endParaRPr sz="1000" b="0" i="0" u="none" strike="noStrike" cap="none"/>
          </a:p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 b="0" i="0" u="none" strike="noStrike" cap="none"/>
          </a:p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df['close'] = pd.to_numeric(df['close'])</a:t>
            </a:r>
            <a:endParaRPr sz="1000" b="0" i="0" u="none" strike="noStrike" cap="none"/>
          </a:p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df['volume'] = pd.to_numeric(df['volume'])</a:t>
            </a:r>
            <a:endParaRPr sz="1000" b="0" i="0" u="none" strike="noStrike" cap="none"/>
          </a:p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df.set_index('date', inplace=True)</a:t>
            </a:r>
            <a:endParaRPr sz="1000" b="0" i="0" u="none" strike="noStrike" cap="non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8157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/>
          <p:nvPr/>
        </p:nvSpPr>
        <p:spPr>
          <a:xfrm>
            <a:off x="6458067" y="494403"/>
            <a:ext cx="2339008" cy="4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Kanit"/>
              <a:buNone/>
            </a:pPr>
            <a:r>
              <a:rPr lang="en-US" sz="2750" b="0" i="0" u="none" strike="noStrike" cap="none" dirty="0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模型训练与评估（任务3-4）</a:t>
            </a:r>
            <a:endParaRPr sz="2750" b="0" i="0" u="none" strike="noStrike" cap="none" dirty="0"/>
          </a:p>
        </p:txBody>
      </p:sp>
      <p:sp>
        <p:nvSpPr>
          <p:cNvPr id="128" name="Google Shape;128;p17"/>
          <p:cNvSpPr/>
          <p:nvPr/>
        </p:nvSpPr>
        <p:spPr>
          <a:xfrm>
            <a:off x="4095569" y="1968663"/>
            <a:ext cx="4667845" cy="886346"/>
          </a:xfrm>
          <a:prstGeom prst="roundRect">
            <a:avLst>
              <a:gd name="adj" fmla="val 10317"/>
            </a:avLst>
          </a:prstGeom>
          <a:solidFill>
            <a:srgbClr val="100C35"/>
          </a:solidFill>
          <a:ln w="19050" cap="flat" cmpd="sng">
            <a:solidFill>
              <a:srgbClr val="48446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9" name="Google Shape;129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76519" y="1968663"/>
            <a:ext cx="76200" cy="88634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/>
          <p:nvPr/>
        </p:nvSpPr>
        <p:spPr>
          <a:xfrm>
            <a:off x="4321342" y="2137285"/>
            <a:ext cx="1760116" cy="2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350"/>
              <a:buFont typeface="Kanit"/>
              <a:buNone/>
            </a:pPr>
            <a:r>
              <a:rPr lang="en-US" sz="1350" b="0" i="0" u="none" strike="noStrike" cap="none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时序划分（禁止随机）</a:t>
            </a:r>
            <a:endParaRPr sz="1350" b="0" i="0" u="none" strike="noStrike" cap="none"/>
          </a:p>
        </p:txBody>
      </p:sp>
      <p:sp>
        <p:nvSpPr>
          <p:cNvPr id="131" name="Google Shape;131;p17"/>
          <p:cNvSpPr/>
          <p:nvPr/>
        </p:nvSpPr>
        <p:spPr>
          <a:xfrm>
            <a:off x="4321342" y="2446997"/>
            <a:ext cx="4273451" cy="2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Martel Sans"/>
              <a:buNone/>
            </a:pPr>
            <a:r>
              <a:rPr lang="en-US" sz="1150" b="0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2024年前80%为训练集，后20%为测试集，严格按时间顺序</a:t>
            </a:r>
            <a:endParaRPr sz="1150" b="0" i="0" u="none" strike="noStrike" cap="none"/>
          </a:p>
        </p:txBody>
      </p:sp>
      <p:sp>
        <p:nvSpPr>
          <p:cNvPr id="132" name="Google Shape;132;p17"/>
          <p:cNvSpPr/>
          <p:nvPr/>
        </p:nvSpPr>
        <p:spPr>
          <a:xfrm>
            <a:off x="4095569" y="3004581"/>
            <a:ext cx="4667845" cy="886346"/>
          </a:xfrm>
          <a:prstGeom prst="roundRect">
            <a:avLst>
              <a:gd name="adj" fmla="val 10317"/>
            </a:avLst>
          </a:prstGeom>
          <a:solidFill>
            <a:srgbClr val="100C35"/>
          </a:solidFill>
          <a:ln w="19050" cap="flat" cmpd="sng">
            <a:solidFill>
              <a:srgbClr val="48446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3" name="Google Shape;133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76519" y="3004581"/>
            <a:ext cx="76200" cy="88634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/>
          <p:nvPr/>
        </p:nvSpPr>
        <p:spPr>
          <a:xfrm>
            <a:off x="4321342" y="3173203"/>
            <a:ext cx="1760116" cy="2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350"/>
              <a:buFont typeface="Kanit"/>
              <a:buNone/>
            </a:pPr>
            <a:r>
              <a:rPr lang="en-US" sz="1350" b="0" i="0" u="none" strike="noStrike" cap="none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评估指标</a:t>
            </a:r>
            <a:endParaRPr sz="1350" b="0" i="0" u="none" strike="noStrike" cap="none"/>
          </a:p>
        </p:txBody>
      </p:sp>
      <p:sp>
        <p:nvSpPr>
          <p:cNvPr id="135" name="Google Shape;135;p17"/>
          <p:cNvSpPr/>
          <p:nvPr/>
        </p:nvSpPr>
        <p:spPr>
          <a:xfrm>
            <a:off x="4321342" y="3482915"/>
            <a:ext cx="4273451" cy="2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Martel Sans"/>
              <a:buNone/>
            </a:pPr>
            <a:r>
              <a:rPr lang="en-US" sz="1150" b="0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输出各模型 </a:t>
            </a:r>
            <a:r>
              <a:rPr lang="en-US" sz="1150" b="1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RMSE</a:t>
            </a:r>
            <a:r>
              <a:rPr lang="en-US" sz="1150" b="0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（均方根误差）与 </a:t>
            </a:r>
            <a:r>
              <a:rPr lang="en-US" sz="1150" b="1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MAE</a:t>
            </a:r>
            <a:r>
              <a:rPr lang="en-US" sz="1150" b="0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（平均绝对误差）</a:t>
            </a:r>
            <a:endParaRPr sz="1150" b="0" i="0" u="none" strike="noStrike" cap="none"/>
          </a:p>
        </p:txBody>
      </p:sp>
      <p:sp>
        <p:nvSpPr>
          <p:cNvPr id="136" name="Google Shape;136;p17"/>
          <p:cNvSpPr/>
          <p:nvPr/>
        </p:nvSpPr>
        <p:spPr>
          <a:xfrm>
            <a:off x="4095569" y="4040499"/>
            <a:ext cx="4667845" cy="886346"/>
          </a:xfrm>
          <a:prstGeom prst="roundRect">
            <a:avLst>
              <a:gd name="adj" fmla="val 10317"/>
            </a:avLst>
          </a:prstGeom>
          <a:solidFill>
            <a:srgbClr val="100C35"/>
          </a:solidFill>
          <a:ln w="19050" cap="flat" cmpd="sng">
            <a:solidFill>
              <a:srgbClr val="48446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7" name="Google Shape;137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76519" y="4040499"/>
            <a:ext cx="76200" cy="88634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/>
          <p:nvPr/>
        </p:nvSpPr>
        <p:spPr>
          <a:xfrm>
            <a:off x="4321342" y="4209122"/>
            <a:ext cx="1760116" cy="2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350"/>
              <a:buFont typeface="Kanit"/>
              <a:buNone/>
            </a:pPr>
            <a:r>
              <a:rPr lang="en-US" sz="1350" b="0" i="0" u="none" strike="noStrike" cap="none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最终模型</a:t>
            </a:r>
            <a:endParaRPr sz="1350" b="0" i="0" u="none" strike="noStrike" cap="none"/>
          </a:p>
        </p:txBody>
      </p:sp>
      <p:sp>
        <p:nvSpPr>
          <p:cNvPr id="139" name="Google Shape;139;p17"/>
          <p:cNvSpPr/>
          <p:nvPr/>
        </p:nvSpPr>
        <p:spPr>
          <a:xfrm>
            <a:off x="4321342" y="4518833"/>
            <a:ext cx="4273451" cy="2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Martel Sans"/>
              <a:buNone/>
            </a:pPr>
            <a:r>
              <a:rPr lang="en-US" sz="1150" b="0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用全部2024年数据重新训练，部署于2025年回测</a:t>
            </a:r>
            <a:endParaRPr sz="1150" b="0" i="0" u="none" strike="noStrike" cap="none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291E253-6190-87D5-AA03-B1AE775D1D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7975"/>
            <a:ext cx="4398904" cy="18328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/>
          <p:nvPr/>
        </p:nvSpPr>
        <p:spPr>
          <a:xfrm>
            <a:off x="700757" y="355402"/>
            <a:ext cx="2949178" cy="350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Kanit"/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量化回测规则（任务5）</a:t>
            </a:r>
            <a:endParaRPr sz="2200" b="0" i="0" u="none" strike="noStrike" cap="none"/>
          </a:p>
        </p:txBody>
      </p:sp>
      <p:pic>
        <p:nvPicPr>
          <p:cNvPr id="146" name="Google Shape;146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0757" y="955402"/>
            <a:ext cx="3725763" cy="3725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0757" y="955402"/>
            <a:ext cx="3725763" cy="372576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/>
          <p:nvPr/>
        </p:nvSpPr>
        <p:spPr>
          <a:xfrm>
            <a:off x="4722093" y="2113062"/>
            <a:ext cx="1402556" cy="175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Kanit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回测评估指标</a:t>
            </a:r>
            <a:endParaRPr sz="1100" b="0" i="0" u="none" strike="noStrike" cap="none"/>
          </a:p>
        </p:txBody>
      </p:sp>
      <p:sp>
        <p:nvSpPr>
          <p:cNvPr id="149" name="Google Shape;149;p18"/>
          <p:cNvSpPr/>
          <p:nvPr/>
        </p:nvSpPr>
        <p:spPr>
          <a:xfrm>
            <a:off x="4722093" y="2383334"/>
            <a:ext cx="3725763" cy="58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Martel Sans"/>
              <a:buChar char="•"/>
            </a:pPr>
            <a:r>
              <a:rPr lang="en-US" sz="900" b="1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累计收益率</a:t>
            </a:r>
            <a:r>
              <a:rPr lang="en-US" sz="900" b="0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：策略最终盈亏</a:t>
            </a:r>
            <a:endParaRPr sz="900" b="0" i="0" u="none" strike="noStrike" cap="none"/>
          </a:p>
          <a:p>
            <a:pPr marL="342900" marR="0" lvl="0" indent="-34290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Martel Sans"/>
              <a:buChar char="•"/>
            </a:pPr>
            <a:r>
              <a:rPr lang="en-US" sz="900" b="1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最大回撤</a:t>
            </a:r>
            <a:r>
              <a:rPr lang="en-US" sz="900" b="0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：资金曲线最大跌幅</a:t>
            </a:r>
            <a:endParaRPr sz="900" b="0" i="0" u="none" strike="noStrike" cap="none"/>
          </a:p>
          <a:p>
            <a:pPr marL="342900" marR="0" lvl="0" indent="-34290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Martel Sans"/>
              <a:buChar char="•"/>
            </a:pPr>
            <a:r>
              <a:rPr lang="en-US" sz="900" b="1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预测胜率</a:t>
            </a:r>
            <a:r>
              <a:rPr lang="en-US" sz="900" b="0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：买入决策中盈利占比</a:t>
            </a:r>
            <a:endParaRPr sz="900" b="0" i="0" u="none" strike="noStrike" cap="none"/>
          </a:p>
        </p:txBody>
      </p:sp>
      <p:sp>
        <p:nvSpPr>
          <p:cNvPr id="150" name="Google Shape;150;p18"/>
          <p:cNvSpPr/>
          <p:nvPr/>
        </p:nvSpPr>
        <p:spPr>
          <a:xfrm>
            <a:off x="4722093" y="3070473"/>
            <a:ext cx="3725763" cy="441127"/>
          </a:xfrm>
          <a:prstGeom prst="roundRect">
            <a:avLst>
              <a:gd name="adj" fmla="val 4054"/>
            </a:avLst>
          </a:prstGeom>
          <a:solidFill>
            <a:srgbClr val="4C010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1" name="Google Shape;151;p1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41304" y="3224659"/>
            <a:ext cx="148977" cy="11921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/>
          <p:nvPr/>
        </p:nvSpPr>
        <p:spPr>
          <a:xfrm>
            <a:off x="5109493" y="3195191"/>
            <a:ext cx="3219152" cy="171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rtel Sans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Martel Sans"/>
                <a:ea typeface="Martel Sans"/>
                <a:cs typeface="Martel Sans"/>
                <a:sym typeface="Martel Sans"/>
              </a:rPr>
              <a:t>同时计算 Buy &amp; Hold 基准策略，与三大模型结果对比。</a:t>
            </a:r>
            <a:endParaRPr sz="900" b="0" i="0" u="none" strike="noStrike" cap="non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/>
          <p:nvPr/>
        </p:nvSpPr>
        <p:spPr>
          <a:xfrm>
            <a:off x="393831" y="216993"/>
            <a:ext cx="3520306" cy="4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Kanit"/>
              <a:buNone/>
            </a:pPr>
            <a:r>
              <a:rPr lang="en-US" sz="2750" b="0" i="0" u="none" strike="noStrike" cap="non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结果可视化（任务6）</a:t>
            </a:r>
            <a:endParaRPr sz="2750" b="0" i="0" u="none" strike="noStrike" cap="none"/>
          </a:p>
        </p:txBody>
      </p:sp>
      <p:sp>
        <p:nvSpPr>
          <p:cNvPr id="160" name="Google Shape;160;p19"/>
          <p:cNvSpPr/>
          <p:nvPr/>
        </p:nvSpPr>
        <p:spPr>
          <a:xfrm>
            <a:off x="393831" y="1272099"/>
            <a:ext cx="1760116" cy="2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350"/>
              <a:buFont typeface="Kanit"/>
              <a:buNone/>
            </a:pPr>
            <a:r>
              <a:rPr lang="en-US" sz="1350" b="0" i="0" u="none" strike="noStrike" cap="none" dirty="0" err="1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预测值</a:t>
            </a:r>
            <a:r>
              <a:rPr lang="en-US" sz="1350" b="0" i="0" u="none" strike="noStrike" cap="none" dirty="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 vs </a:t>
            </a:r>
            <a:r>
              <a:rPr lang="en-US" sz="1350" b="0" i="0" u="none" strike="noStrike" cap="none" dirty="0" err="1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真实值</a:t>
            </a:r>
            <a:endParaRPr sz="1350" b="0" i="0" u="none" strike="noStrike" cap="none" dirty="0"/>
          </a:p>
        </p:txBody>
      </p:sp>
      <p:sp>
        <p:nvSpPr>
          <p:cNvPr id="161" name="Google Shape;161;p19"/>
          <p:cNvSpPr/>
          <p:nvPr/>
        </p:nvSpPr>
        <p:spPr>
          <a:xfrm>
            <a:off x="393831" y="1581811"/>
            <a:ext cx="3954884" cy="2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Martel Sans"/>
              <a:buNone/>
            </a:pPr>
            <a:r>
              <a:rPr lang="en-US" sz="1150" b="0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对比三大模型在2025年的预测收益率与实际收益率走势</a:t>
            </a:r>
            <a:endParaRPr sz="1150" b="0" i="0" u="none" strike="noStrike" cap="none"/>
          </a:p>
        </p:txBody>
      </p:sp>
      <p:sp>
        <p:nvSpPr>
          <p:cNvPr id="163" name="Google Shape;163;p19"/>
          <p:cNvSpPr/>
          <p:nvPr/>
        </p:nvSpPr>
        <p:spPr>
          <a:xfrm>
            <a:off x="447171" y="3591235"/>
            <a:ext cx="1601722" cy="2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350"/>
              <a:buFont typeface="Kanit"/>
              <a:buNone/>
            </a:pPr>
            <a:r>
              <a:rPr lang="en-US" sz="1350" b="0" i="0" u="none" strike="noStrike" cap="none" dirty="0" err="1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回测累计收益曲线</a:t>
            </a:r>
            <a:endParaRPr sz="1350" b="0" i="0" u="none" strike="noStrike" cap="none" dirty="0"/>
          </a:p>
        </p:txBody>
      </p:sp>
      <p:sp>
        <p:nvSpPr>
          <p:cNvPr id="164" name="Google Shape;164;p19"/>
          <p:cNvSpPr/>
          <p:nvPr/>
        </p:nvSpPr>
        <p:spPr>
          <a:xfrm>
            <a:off x="447171" y="3900947"/>
            <a:ext cx="3599049" cy="2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Martel Sans"/>
              <a:buNone/>
            </a:pPr>
            <a:r>
              <a:rPr lang="en-US" sz="1150" b="0" i="0" u="none" strike="noStrike" cap="none" dirty="0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展示2025年各模型策略资金曲线，与买入持有基准对比</a:t>
            </a:r>
            <a:endParaRPr sz="1150" b="0" i="0" u="none" strike="noStrike" cap="none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DB5B04F-A290-6C8F-50A4-5A54426C3C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77229" y="687786"/>
            <a:ext cx="4472939" cy="17891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57888C2-8229-ECB9-6E02-0A800043AB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77226" y="2972969"/>
            <a:ext cx="4472942" cy="17891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/>
          <p:nvPr/>
        </p:nvSpPr>
        <p:spPr>
          <a:xfrm>
            <a:off x="489710" y="84186"/>
            <a:ext cx="3520306" cy="4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Kanit"/>
              <a:buNone/>
            </a:pPr>
            <a:r>
              <a:rPr lang="en-US" sz="2750" b="0" i="0" u="none" strike="noStrike" cap="non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模型优缺点分析</a:t>
            </a:r>
            <a:endParaRPr sz="2750" b="0" i="0" u="none" strike="noStrike" cap="none"/>
          </a:p>
        </p:txBody>
      </p:sp>
      <p:sp>
        <p:nvSpPr>
          <p:cNvPr id="171" name="Google Shape;171;p20"/>
          <p:cNvSpPr/>
          <p:nvPr/>
        </p:nvSpPr>
        <p:spPr>
          <a:xfrm>
            <a:off x="489710" y="823415"/>
            <a:ext cx="2599209" cy="2053307"/>
          </a:xfrm>
          <a:prstGeom prst="roundRect">
            <a:avLst>
              <a:gd name="adj" fmla="val 1093"/>
            </a:avLst>
          </a:prstGeom>
          <a:solidFill>
            <a:srgbClr val="100C35"/>
          </a:solidFill>
          <a:ln w="19050" cap="flat" cmpd="sng">
            <a:solidFill>
              <a:srgbClr val="48446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508760" y="842465"/>
            <a:ext cx="2561109" cy="448791"/>
          </a:xfrm>
          <a:prstGeom prst="rect">
            <a:avLst/>
          </a:prstGeom>
          <a:solidFill>
            <a:srgbClr val="2F2B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658333" y="1440828"/>
            <a:ext cx="1760116" cy="2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350"/>
              <a:buFont typeface="Kanit"/>
              <a:buNone/>
            </a:pPr>
            <a:r>
              <a:rPr lang="en-US" sz="1350" b="0" i="0" u="none" strike="noStrike" cap="none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线性回归</a:t>
            </a:r>
            <a:endParaRPr sz="1350" b="0" i="0" u="none" strike="noStrike" cap="none"/>
          </a:p>
        </p:txBody>
      </p:sp>
      <p:sp>
        <p:nvSpPr>
          <p:cNvPr id="174" name="Google Shape;174;p20"/>
          <p:cNvSpPr/>
          <p:nvPr/>
        </p:nvSpPr>
        <p:spPr>
          <a:xfrm>
            <a:off x="658333" y="1750540"/>
            <a:ext cx="2261964" cy="71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Martel Sans"/>
              <a:buNone/>
            </a:pPr>
            <a:r>
              <a:rPr lang="en-US" sz="1150" b="1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优点：</a:t>
            </a:r>
            <a:r>
              <a:rPr lang="en-US" sz="1150" b="0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可解释性强，训练快速</a:t>
            </a:r>
            <a:endParaRPr sz="1150" b="0" i="0" u="none" strike="noStrike" cap="none"/>
          </a:p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Martel Sans"/>
              <a:buNone/>
            </a:pPr>
            <a:r>
              <a:rPr lang="en-US" sz="1150" b="1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缺点：</a:t>
            </a:r>
            <a:r>
              <a:rPr lang="en-US" sz="1150" b="0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无法捕捉非线性关系，预测精度有限</a:t>
            </a:r>
            <a:endParaRPr sz="1150" b="0" i="0" u="none" strike="noStrike" cap="none"/>
          </a:p>
        </p:txBody>
      </p:sp>
      <p:sp>
        <p:nvSpPr>
          <p:cNvPr id="175" name="Google Shape;175;p20"/>
          <p:cNvSpPr/>
          <p:nvPr/>
        </p:nvSpPr>
        <p:spPr>
          <a:xfrm>
            <a:off x="3238491" y="823415"/>
            <a:ext cx="2599209" cy="2053307"/>
          </a:xfrm>
          <a:prstGeom prst="roundRect">
            <a:avLst>
              <a:gd name="adj" fmla="val 1093"/>
            </a:avLst>
          </a:prstGeom>
          <a:solidFill>
            <a:srgbClr val="100C35"/>
          </a:solidFill>
          <a:ln w="19050" cap="flat" cmpd="sng">
            <a:solidFill>
              <a:srgbClr val="48446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3257541" y="842465"/>
            <a:ext cx="2561109" cy="448791"/>
          </a:xfrm>
          <a:prstGeom prst="rect">
            <a:avLst/>
          </a:prstGeom>
          <a:solidFill>
            <a:srgbClr val="2F2B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3407114" y="1440828"/>
            <a:ext cx="1760116" cy="2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350"/>
              <a:buFont typeface="Kanit"/>
              <a:buNone/>
            </a:pPr>
            <a:r>
              <a:rPr lang="en-US" sz="1350" b="0" i="0" u="none" strike="noStrike" cap="none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随机森林</a:t>
            </a:r>
            <a:endParaRPr sz="1350" b="0" i="0" u="none" strike="noStrike" cap="none"/>
          </a:p>
        </p:txBody>
      </p:sp>
      <p:sp>
        <p:nvSpPr>
          <p:cNvPr id="178" name="Google Shape;178;p20"/>
          <p:cNvSpPr/>
          <p:nvPr/>
        </p:nvSpPr>
        <p:spPr>
          <a:xfrm>
            <a:off x="3407114" y="1750540"/>
            <a:ext cx="2261964" cy="71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Martel Sans"/>
              <a:buNone/>
            </a:pPr>
            <a:r>
              <a:rPr lang="en-US" sz="1150" b="1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优点：</a:t>
            </a:r>
            <a:r>
              <a:rPr lang="en-US" sz="1150" b="0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抗过拟合，处理非线性特征</a:t>
            </a:r>
            <a:endParaRPr sz="1150" b="0" i="0" u="none" strike="noStrike" cap="none"/>
          </a:p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Martel Sans"/>
              <a:buNone/>
            </a:pPr>
            <a:r>
              <a:rPr lang="en-US" sz="1150" b="1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缺点：</a:t>
            </a:r>
            <a:r>
              <a:rPr lang="en-US" sz="1150" b="0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训练较慢，对时序数据敏感性不足</a:t>
            </a:r>
            <a:endParaRPr sz="1150" b="0" i="0" u="none" strike="noStrike" cap="none"/>
          </a:p>
        </p:txBody>
      </p:sp>
      <p:sp>
        <p:nvSpPr>
          <p:cNvPr id="179" name="Google Shape;179;p20"/>
          <p:cNvSpPr/>
          <p:nvPr/>
        </p:nvSpPr>
        <p:spPr>
          <a:xfrm>
            <a:off x="5987272" y="823415"/>
            <a:ext cx="2599283" cy="2053307"/>
          </a:xfrm>
          <a:prstGeom prst="roundRect">
            <a:avLst>
              <a:gd name="adj" fmla="val 1093"/>
            </a:avLst>
          </a:prstGeom>
          <a:solidFill>
            <a:srgbClr val="100C35"/>
          </a:solidFill>
          <a:ln w="19050" cap="flat" cmpd="sng">
            <a:solidFill>
              <a:srgbClr val="48446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6006322" y="842465"/>
            <a:ext cx="2561183" cy="448791"/>
          </a:xfrm>
          <a:prstGeom prst="rect">
            <a:avLst/>
          </a:prstGeom>
          <a:solidFill>
            <a:srgbClr val="2F2B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6155895" y="1440828"/>
            <a:ext cx="1760116" cy="2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350"/>
              <a:buFont typeface="Kanit"/>
              <a:buNone/>
            </a:pPr>
            <a:r>
              <a:rPr lang="en-US" sz="1350" b="0" i="0" u="none" strike="noStrike" cap="none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LightGBM</a:t>
            </a:r>
            <a:endParaRPr sz="1350" b="0" i="0" u="none" strike="noStrike" cap="none"/>
          </a:p>
        </p:txBody>
      </p:sp>
      <p:sp>
        <p:nvSpPr>
          <p:cNvPr id="182" name="Google Shape;182;p20"/>
          <p:cNvSpPr/>
          <p:nvPr/>
        </p:nvSpPr>
        <p:spPr>
          <a:xfrm>
            <a:off x="6155895" y="1750540"/>
            <a:ext cx="2262039" cy="95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Martel Sans"/>
              <a:buNone/>
            </a:pPr>
            <a:r>
              <a:rPr lang="en-US" sz="1150" b="1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优点：</a:t>
            </a:r>
            <a:r>
              <a:rPr lang="en-US" sz="1150" b="0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精度高、速度快，适合金融时序</a:t>
            </a:r>
            <a:endParaRPr sz="1150" b="0" i="0" u="none" strike="noStrike" cap="none"/>
          </a:p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Martel Sans"/>
              <a:buNone/>
            </a:pPr>
            <a:r>
              <a:rPr lang="en-US" sz="1150" b="1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缺点：</a:t>
            </a:r>
            <a:r>
              <a:rPr lang="en-US" sz="1150" b="0" i="0" u="none" strike="noStrike" cap="none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参数调优复杂，可解释性较弱</a:t>
            </a:r>
            <a:endParaRPr sz="1150" b="0" i="0" u="none" strike="noStrike" cap="none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FEA37F3-F354-F30F-7FD9-64E2A16D2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695" y="3026294"/>
            <a:ext cx="6903813" cy="19177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396</Words>
  <Application>Microsoft Office PowerPoint</Application>
  <PresentationFormat>全屏显示(16:9)</PresentationFormat>
  <Paragraphs>82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Arial</vt:lpstr>
      <vt:lpstr>Martel Sans</vt:lpstr>
      <vt:lpstr>Consolas</vt:lpstr>
      <vt:lpstr>Kanit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成儒 俞</cp:lastModifiedBy>
  <cp:revision>3</cp:revision>
  <dcterms:modified xsi:type="dcterms:W3CDTF">2026-05-14T07:28:21Z</dcterms:modified>
</cp:coreProperties>
</file>